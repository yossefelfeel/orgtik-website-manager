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4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135CD"/>
          </a:solidFill>
          <a:ln>
            <a:noFill/>
          </a:ln>
        </p:spPr>
        <p:txBody>
          <a:bodyPr wrap="square" rtlCol="0" anchor="t">
            <a:normAutofit/>
          </a:bodyPr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914400" y="2286000"/>
            <a:ext cx="10363200" cy="1371600"/>
          </a:xfrm>
          <a:prstGeom prst="rect">
            <a:avLst/>
          </a:prstGeom>
          <a:noFill/>
        </p:spPr>
        <p:txBody>
          <a:bodyPr wrap="square" rtlCol="0" anchor="b">
            <a:normAutofit/>
          </a:bodyPr>
          <a:lstStyle/>
          <a:p>
            <a:pPr>
              <a:buNone/>
            </a:pPr>
            <a:r>
              <a:rPr lang="en-US" sz="5400" b="1" dirty="0">
                <a:solidFill>
                  <a:srgbClr val="FFFFFF"/>
                </a:solidFill>
                <a:latin typeface="Segoe UI"/>
              </a:rPr>
              <a:t>Sales Kickoff 2026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914400" y="3810000"/>
            <a:ext cx="10363200" cy="13716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>
              <a:buNone/>
            </a:pPr>
            <a:r>
              <a:rPr lang="en-US" sz="2400" dirty="0">
                <a:solidFill>
                  <a:srgbClr val="EDE9FE"/>
                </a:solidFill>
                <a:latin typeface="Segoe UI"/>
              </a:rPr>
              <a:t>Grow faster in the GCC</a:t>
            </a:r>
          </a:p>
          <a:p>
            <a:pPr>
              <a:buNone/>
            </a:pPr>
            <a:r>
              <a:rPr lang="en-US" sz="2400" dirty="0">
                <a:solidFill>
                  <a:srgbClr val="EDE9FE"/>
                </a:solidFill>
                <a:latin typeface="Segoe UI"/>
              </a:rPr>
              <a:t>Omar Farouk - Sales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8135CD"/>
          </a:solidFill>
          <a:ln>
            <a:noFill/>
          </a:ln>
        </p:spPr>
        <p:txBody>
          <a:bodyPr wrap="square" rtlCol="0" anchor="t">
            <a:normAutofit/>
          </a:bodyPr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685800" y="457200"/>
            <a:ext cx="10820400" cy="1143000"/>
          </a:xfrm>
          <a:prstGeom prst="rect">
            <a:avLst/>
          </a:prstGeom>
          <a:noFill/>
        </p:spPr>
        <p:txBody>
          <a:bodyPr wrap="square" rtlCol="0" anchor="b"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1E1B4B"/>
                </a:solidFill>
                <a:latin typeface="Segoe UI"/>
              </a:rPr>
              <a:t>2025 in review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828800"/>
            <a:ext cx="10820400" cy="438912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457200" indent="-342900">
              <a:spcBef>
                <a:spcPts val="900"/>
              </a:spcBef>
              <a:buFont typeface="Arial"/>
              <a:buChar char="•"/>
            </a:pPr>
            <a:r>
              <a:rPr lang="en-US" sz="2400" dirty="0">
                <a:solidFill>
                  <a:srgbClr val="374151"/>
                </a:solidFill>
                <a:latin typeface="Segoe UI"/>
              </a:rPr>
              <a:t>EGP 64M bookings (+31%)</a:t>
            </a:r>
          </a:p>
          <a:p>
            <a:pPr marL="457200" indent="-342900">
              <a:spcBef>
                <a:spcPts val="900"/>
              </a:spcBef>
              <a:buFont typeface="Arial"/>
              <a:buChar char="•"/>
            </a:pPr>
            <a:r>
              <a:rPr lang="en-US" sz="2400" dirty="0">
                <a:solidFill>
                  <a:srgbClr val="374151"/>
                </a:solidFill>
                <a:latin typeface="Segoe UI"/>
              </a:rPr>
              <a:t>Win rate 27% (+4 pts)</a:t>
            </a:r>
          </a:p>
          <a:p>
            <a:pPr marL="457200" indent="-342900">
              <a:spcBef>
                <a:spcPts val="900"/>
              </a:spcBef>
              <a:buFont typeface="Arial"/>
              <a:buChar char="•"/>
            </a:pPr>
            <a:r>
              <a:rPr lang="en-US" sz="2400" dirty="0">
                <a:solidFill>
                  <a:srgbClr val="374151"/>
                </a:solidFill>
                <a:latin typeface="Segoe UI"/>
              </a:rPr>
              <a:t>Top deal: Nile Foods MSA renewal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09360"/>
            <a:ext cx="10820400" cy="36576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>
              <a:buNone/>
            </a:pPr>
            <a:r>
              <a:rPr lang="en-US" sz="1100" dirty="0">
                <a:solidFill>
                  <a:srgbClr val="9CA3AF"/>
                </a:solidFill>
                <a:latin typeface="Segoe UI"/>
              </a:rPr>
              <a:t>Orgtik  |  Sales Kickoff 2026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8135CD"/>
          </a:solidFill>
          <a:ln>
            <a:noFill/>
          </a:ln>
        </p:spPr>
        <p:txBody>
          <a:bodyPr wrap="square" rtlCol="0" anchor="t">
            <a:normAutofit/>
          </a:bodyPr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685800" y="457200"/>
            <a:ext cx="10820400" cy="1143000"/>
          </a:xfrm>
          <a:prstGeom prst="rect">
            <a:avLst/>
          </a:prstGeom>
          <a:noFill/>
        </p:spPr>
        <p:txBody>
          <a:bodyPr wrap="square" rtlCol="0" anchor="b"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1E1B4B"/>
                </a:solidFill>
                <a:latin typeface="Segoe UI"/>
              </a:rPr>
              <a:t>2026 targets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828800"/>
            <a:ext cx="10820400" cy="438912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457200" indent="-342900">
              <a:spcBef>
                <a:spcPts val="900"/>
              </a:spcBef>
              <a:buFont typeface="Arial"/>
              <a:buChar char="•"/>
            </a:pPr>
            <a:r>
              <a:rPr lang="en-US" sz="2400" dirty="0">
                <a:solidFill>
                  <a:srgbClr val="374151"/>
                </a:solidFill>
                <a:latin typeface="Segoe UI"/>
              </a:rPr>
              <a:t>EGP 85M bookings</a:t>
            </a:r>
          </a:p>
          <a:p>
            <a:pPr marL="457200" indent="-342900">
              <a:spcBef>
                <a:spcPts val="900"/>
              </a:spcBef>
              <a:buFont typeface="Arial"/>
              <a:buChar char="•"/>
            </a:pPr>
            <a:r>
              <a:rPr lang="en-US" sz="2400" dirty="0">
                <a:solidFill>
                  <a:srgbClr val="374151"/>
                </a:solidFill>
                <a:latin typeface="Segoe UI"/>
              </a:rPr>
              <a:t>40% of new logos from KSA and UAE</a:t>
            </a:r>
          </a:p>
          <a:p>
            <a:pPr marL="457200" indent="-342900">
              <a:spcBef>
                <a:spcPts val="900"/>
              </a:spcBef>
              <a:buFont typeface="Arial"/>
              <a:buChar char="•"/>
            </a:pPr>
            <a:r>
              <a:rPr lang="en-US" sz="2400" dirty="0">
                <a:solidFill>
                  <a:srgbClr val="374151"/>
                </a:solidFill>
                <a:latin typeface="Segoe UI"/>
              </a:rPr>
              <a:t>Average deal size EGP 420K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09360"/>
            <a:ext cx="10820400" cy="36576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>
              <a:buNone/>
            </a:pPr>
            <a:r>
              <a:rPr lang="en-US" sz="1100" dirty="0">
                <a:solidFill>
                  <a:srgbClr val="9CA3AF"/>
                </a:solidFill>
                <a:latin typeface="Segoe UI"/>
              </a:rPr>
              <a:t>Orgtik  |  Sales Kickoff 2026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8135CD"/>
          </a:solidFill>
          <a:ln>
            <a:noFill/>
          </a:ln>
        </p:spPr>
        <p:txBody>
          <a:bodyPr wrap="square" rtlCol="0" anchor="t">
            <a:normAutofit/>
          </a:bodyPr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685800" y="457200"/>
            <a:ext cx="10820400" cy="1143000"/>
          </a:xfrm>
          <a:prstGeom prst="rect">
            <a:avLst/>
          </a:prstGeom>
          <a:noFill/>
        </p:spPr>
        <p:txBody>
          <a:bodyPr wrap="square" rtlCol="0" anchor="b"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1E1B4B"/>
                </a:solidFill>
                <a:latin typeface="Segoe UI"/>
              </a:rPr>
              <a:t>How we win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828800"/>
            <a:ext cx="10820400" cy="438912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457200" indent="-342900">
              <a:spcBef>
                <a:spcPts val="900"/>
              </a:spcBef>
              <a:buFont typeface="Arial"/>
              <a:buChar char="•"/>
            </a:pPr>
            <a:r>
              <a:rPr lang="en-US" sz="2400" dirty="0">
                <a:solidFill>
                  <a:srgbClr val="374151"/>
                </a:solidFill>
                <a:latin typeface="Segoe UI"/>
              </a:rPr>
              <a:t>Lead with the connected suite, not single tools</a:t>
            </a:r>
          </a:p>
          <a:p>
            <a:pPr marL="457200" indent="-342900">
              <a:spcBef>
                <a:spcPts val="900"/>
              </a:spcBef>
              <a:buFont typeface="Arial"/>
              <a:buChar char="•"/>
            </a:pPr>
            <a:r>
              <a:rPr lang="en-US" sz="2400" dirty="0">
                <a:solidFill>
                  <a:srgbClr val="374151"/>
                </a:solidFill>
                <a:latin typeface="Segoe UI"/>
              </a:rPr>
              <a:t>Local pricing in EGP, SAR and AED</a:t>
            </a:r>
          </a:p>
          <a:p>
            <a:pPr marL="457200" indent="-342900">
              <a:spcBef>
                <a:spcPts val="900"/>
              </a:spcBef>
              <a:buFont typeface="Arial"/>
              <a:buChar char="•"/>
            </a:pPr>
            <a:r>
              <a:rPr lang="en-US" sz="2400" dirty="0">
                <a:solidFill>
                  <a:srgbClr val="374151"/>
                </a:solidFill>
                <a:latin typeface="Segoe UI"/>
              </a:rPr>
              <a:t>Customer stories from our top 10 accounts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09360"/>
            <a:ext cx="10820400" cy="36576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>
              <a:buNone/>
            </a:pPr>
            <a:r>
              <a:rPr lang="en-US" sz="1100" dirty="0">
                <a:solidFill>
                  <a:srgbClr val="9CA3AF"/>
                </a:solidFill>
                <a:latin typeface="Segoe UI"/>
              </a:rPr>
              <a:t>Orgtik  |  Sales Kickoff 2026  | 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gtik">
  <a:themeElements>
    <a:clrScheme name="Orgtik">
      <a:dk1>
        <a:sysClr val="windowText" lastClr="000000"/>
      </a:dk1>
      <a:lt1>
        <a:sysClr val="window" lastClr="FFFFFF"/>
      </a:lt1>
      <a:dk2>
        <a:srgbClr val="1E1B4B"/>
      </a:dk2>
      <a:lt2>
        <a:srgbClr val="F5F3FF"/>
      </a:lt2>
      <a:accent1>
        <a:srgbClr val="8135CD"/>
      </a:accent1>
      <a:accent2>
        <a:srgbClr val="FF692E"/>
      </a:accent2>
      <a:accent3>
        <a:srgbClr val="32ABB9"/>
      </a:accent3>
      <a:accent4>
        <a:srgbClr val="0061FF"/>
      </a:accent4>
      <a:accent5>
        <a:srgbClr val="F59E0B"/>
      </a:accent5>
      <a:accent6>
        <a:srgbClr val="10B981"/>
      </a:accent6>
      <a:hlink>
        <a:srgbClr val="0061FF"/>
      </a:hlink>
      <a:folHlink>
        <a:srgbClr val="7C3AED"/>
      </a:folHlink>
    </a:clrScheme>
    <a:fontScheme name="Orgtik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rgti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>Orgtik LLC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Kickoff 2026</dc:title>
  <dc:creator>Orgtik LLC</dc:creator>
  <cp:lastModifiedBy>Orgtik LLC</cp:lastModifiedBy>
  <dcterms:created xsi:type="dcterms:W3CDTF">2026-09-01T09:00:00Z</dcterms:created>
  <dcterms:modified xsi:type="dcterms:W3CDTF">2026-09-20T09:00:00Z</dcterms:modified>
</cp:coreProperties>
</file>